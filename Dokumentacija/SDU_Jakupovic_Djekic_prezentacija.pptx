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58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2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>
        <p:scale>
          <a:sx n="66" d="100"/>
          <a:sy n="66" d="100"/>
        </p:scale>
        <p:origin x="1330" y="245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317C-A47A-0882-C7D3-FB375BC9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DDE37-1583-15B3-DEB0-1E23F4D0A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62F17-8DB9-05CC-49BD-F3C442CF0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874C0-89E5-F4C4-9898-F7E1AD5AE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006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74BEC-5869-89DC-FB4F-F2A35981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3B4D4-BCB3-8788-F18B-F8DFB0A1E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A2FC-6839-11DD-E38B-DBD8239C9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AC9DD-798C-781F-6476-E2007C4DA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67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D456A-D508-AC38-8CCD-F77CBA98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64C4C-CDBF-5BB1-7AC0-DC506E511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D6CB4-774E-7872-5417-C3D5CBCFE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B847C-3226-70A7-DD5C-69C2D6D8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193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68BC-CBD8-ADFE-926A-14620BCF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7995F-A6D9-0CD7-92A2-A49B83C36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591FA-1381-AB75-E13A-AAEF339C1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3F9D8-E1DB-D3E7-C233-15A31D0AC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89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6F9E-AF56-3D0E-F93C-CB5CA1BD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38621-1A9E-A66E-7940-FAC57F7AC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FA728-778A-A68D-DFA6-CBE41B07C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686CC-E33B-EF5A-1FA6-9D6D787B9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835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1CF9-CCDD-4201-4521-7E4A4C036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B0066-8598-3AAA-A9F5-E7669E809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2F163-3733-51E3-87B9-86D63B169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8B70-59C9-6568-5822-6DE093DB8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8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AF07-D23B-5602-D86A-15F49DE9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5F1C7-82E8-BC56-0585-8B91F7BDD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7F478-A018-AD2B-5407-5D2EAD082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B551C-9D65-509C-613F-5C432898A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97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7703-8E1F-E178-B676-F00B991D5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5F999-88E5-A542-BB21-CEDF711B0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96887-A48B-811C-AE32-352091E84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3476-DB74-DA01-EA9F-F299CA2A4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87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E253-C303-3976-D165-5E28C4AA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E94FD-2DE8-9D2C-3466-B1504613C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D9687-F9F9-BBB8-04D9-D8412995C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92BEA-61EA-7094-0291-4C740B38B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79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2D23D-172B-9492-C386-AAAC89B0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86C41-2D02-F14F-D314-1BB419901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B274F-ECB2-17CE-BAF2-433110BE3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2B396-A56E-990D-9D56-7DC6A0353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91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6788-3462-8CFA-F8DD-2A0CF844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91C0C-F30B-F96B-9FC6-88E96FC0B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1316C-B80E-C67B-F2FD-F87085FCE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908D3-EF8C-D6DF-F806-9E33E324E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598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A770-F990-5D58-EC40-1ADEDCEC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AF36F-F468-770B-F60A-784D86916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1E2B6-8E74-734D-8584-9B80F84F8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17978-12B3-EBF4-8187-AE89A379D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429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BEE9C-40CB-DB06-6E9B-1F1558FD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2AC6F-71A1-217D-75D3-8933AAD57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84860-85F5-FB41-5A81-E5F98C042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32925-0C62-18DA-FC16-758EDDC14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60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68EF-B123-47D2-CC98-06DBD79A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7A08C-AE8C-7445-AFB7-3431A28B6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D4972-E650-9709-D4FD-EDD3FB751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2AA9C-118C-DE2E-7934-74AEEA983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814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B9EC-1D0E-793C-8E3D-41062880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A1543-36B7-F37C-D794-F5AD14C8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80A45-92E3-81CB-729E-C86A8F315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466DE-8380-4213-6FE6-59C13CEBD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469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r-HR"/>
              <a:t>Kliknite ikonu da biste dodali tablicu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sadržaj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hr-HR"/>
              <a:t>Kliknite ikonu da biste dodali tablicu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1573414"/>
            <a:ext cx="4941771" cy="2805546"/>
          </a:xfrm>
        </p:spPr>
        <p:txBody>
          <a:bodyPr anchor="ctr"/>
          <a:lstStyle/>
          <a:p>
            <a:r>
              <a:rPr lang="hr-BA" noProof="0" dirty="0"/>
              <a:t>Detekcija slobodnih i zauzetih mjesta na parkingu pomoću YOLO modela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DF0347-A008-3A31-DA5D-E0D96E7A14E0}"/>
              </a:ext>
            </a:extLst>
          </p:cNvPr>
          <p:cNvSpPr txBox="1">
            <a:spLocks/>
          </p:cNvSpPr>
          <p:nvPr/>
        </p:nvSpPr>
        <p:spPr>
          <a:xfrm>
            <a:off x="6441917" y="4378960"/>
            <a:ext cx="4941771" cy="452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BA" sz="1200" cap="none" noProof="0" dirty="0">
                <a:latin typeface="Segoe UI Variable Display" pitchFamily="2" charset="0"/>
              </a:rPr>
              <a:t>Benjamin Jakupović, Damjan </a:t>
            </a:r>
            <a:r>
              <a:rPr lang="hr-BA" sz="1200" cap="none" noProof="0" dirty="0" err="1">
                <a:latin typeface="Segoe UI Variable Display" pitchFamily="2" charset="0"/>
              </a:rPr>
              <a:t>Đekić</a:t>
            </a:r>
            <a:endParaRPr lang="hr-BA" sz="1200" cap="none" noProof="0" dirty="0">
              <a:latin typeface="Segoe UI Variable Display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587237-E184-1DD9-E55B-6E2D9F69F4BF}"/>
              </a:ext>
            </a:extLst>
          </p:cNvPr>
          <p:cNvSpPr txBox="1">
            <a:spLocks/>
          </p:cNvSpPr>
          <p:nvPr/>
        </p:nvSpPr>
        <p:spPr>
          <a:xfrm>
            <a:off x="6441917" y="4831773"/>
            <a:ext cx="4941771" cy="452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BA" sz="1100" cap="none" noProof="0" dirty="0">
                <a:latin typeface="Segoe UI Variable Display" pitchFamily="2" charset="0"/>
              </a:rPr>
              <a:t>Analitika podataka velikog obujma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032D4E-B30C-63D2-3651-E0F7E2808A03}"/>
              </a:ext>
            </a:extLst>
          </p:cNvPr>
          <p:cNvSpPr txBox="1">
            <a:spLocks/>
          </p:cNvSpPr>
          <p:nvPr/>
        </p:nvSpPr>
        <p:spPr>
          <a:xfrm>
            <a:off x="6441917" y="5284586"/>
            <a:ext cx="4941771" cy="452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BA" sz="1100" cap="none" noProof="0" dirty="0">
                <a:latin typeface="Segoe UI Variable Display" pitchFamily="2" charset="0"/>
              </a:rPr>
              <a:t>Fakultet Informatike i Digitalnih Tehnologija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3C6FA7-7F33-1698-F2BF-E8AC5BA1A9D3}"/>
              </a:ext>
            </a:extLst>
          </p:cNvPr>
          <p:cNvSpPr txBox="1">
            <a:spLocks/>
          </p:cNvSpPr>
          <p:nvPr/>
        </p:nvSpPr>
        <p:spPr>
          <a:xfrm>
            <a:off x="6441916" y="5737399"/>
            <a:ext cx="4941771" cy="452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BA" sz="1100" cap="none" noProof="0" dirty="0">
                <a:latin typeface="Segoe UI Variable Display" pitchFamily="2" charset="0"/>
              </a:rPr>
              <a:t>Rijeka, 6.6.2025.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hr-BA" noProof="0" dirty="0"/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hr-BA" noProof="0" dirty="0"/>
              <a:t>O </a:t>
            </a:r>
            <a:r>
              <a:rPr lang="hr-BA" noProof="0" dirty="0" err="1"/>
              <a:t>ParkMan</a:t>
            </a:r>
            <a:r>
              <a:rPr lang="hr-BA" noProof="0" dirty="0"/>
              <a:t>-u</a:t>
            </a:r>
          </a:p>
          <a:p>
            <a:r>
              <a:rPr lang="hr-BA" noProof="0" dirty="0"/>
              <a:t>Funkcionalnosti</a:t>
            </a:r>
          </a:p>
          <a:p>
            <a:r>
              <a:rPr lang="hr-BA" noProof="0" dirty="0"/>
              <a:t>Komponente</a:t>
            </a:r>
          </a:p>
          <a:p>
            <a:r>
              <a:rPr lang="hr-BA" noProof="0" dirty="0"/>
              <a:t>CV model</a:t>
            </a:r>
          </a:p>
          <a:p>
            <a:r>
              <a:rPr lang="hr-BA" noProof="0" dirty="0"/>
              <a:t>Rezultati treniranja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hr-BA" noProof="0" smtClean="0"/>
              <a:pPr/>
              <a:t>2</a:t>
            </a:fld>
            <a:endParaRPr lang="hr-BA" noProof="0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hr-BA" noProof="0" dirty="0"/>
              <a:t>Motivacija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b="0" noProof="0" dirty="0" err="1"/>
              <a:t>ParkMan</a:t>
            </a:r>
            <a:r>
              <a:rPr lang="hr-BA" b="0" noProof="0" dirty="0"/>
              <a:t> -&gt; YOLO model za “brojanje” zauzetih mjesta na parkinzima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b="0" noProof="0" dirty="0"/>
              <a:t>Model treniran </a:t>
            </a:r>
            <a:r>
              <a:rPr lang="en-US" b="0" noProof="0" dirty="0" err="1"/>
              <a:t>nad</a:t>
            </a:r>
            <a:r>
              <a:rPr lang="hr-BA" b="0" noProof="0" dirty="0"/>
              <a:t> PKLOT skupom podataka -&gt; klasifikacija mjesta kao slobodno i zauzeto </a:t>
            </a:r>
            <a:r>
              <a:rPr lang="en-US" b="0" noProof="0" dirty="0" err="1"/>
              <a:t>te</a:t>
            </a:r>
            <a:r>
              <a:rPr lang="en-US" b="0" noProof="0" dirty="0"/>
              <a:t> </a:t>
            </a:r>
            <a:r>
              <a:rPr lang="en-US" b="0" noProof="0" dirty="0" err="1"/>
              <a:t>brojanje</a:t>
            </a:r>
            <a:r>
              <a:rPr lang="en-US" b="0" noProof="0" dirty="0"/>
              <a:t> </a:t>
            </a:r>
            <a:r>
              <a:rPr lang="en-US" b="0" noProof="0" dirty="0" err="1"/>
              <a:t>instanci</a:t>
            </a:r>
            <a:r>
              <a:rPr lang="en-US" b="0" noProof="0" dirty="0"/>
              <a:t> </a:t>
            </a:r>
            <a:r>
              <a:rPr lang="en-US" b="0" noProof="0" dirty="0" err="1"/>
              <a:t>koje</a:t>
            </a:r>
            <a:r>
              <a:rPr lang="en-US" b="0" noProof="0" dirty="0"/>
              <a:t> </a:t>
            </a:r>
            <a:r>
              <a:rPr lang="en-US" b="0" noProof="0" dirty="0" err="1"/>
              <a:t>su</a:t>
            </a:r>
            <a:r>
              <a:rPr lang="en-US" b="0" noProof="0" dirty="0"/>
              <a:t> </a:t>
            </a:r>
            <a:r>
              <a:rPr lang="en-US" b="0" noProof="0" dirty="0" err="1"/>
              <a:t>zauzete</a:t>
            </a: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hr-BA" noProof="0" smtClean="0"/>
              <a:pPr/>
              <a:t>3</a:t>
            </a:fld>
            <a:endParaRPr lang="hr-BA" noProof="0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3146-6400-67B6-69CA-6830AE26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A45C-BDD8-DFDD-B396-CB3C148F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6A27B2F0-8B81-55DE-B3FA-AE77F650B5C8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b="0" noProof="0" dirty="0"/>
              <a:t>F1-confidence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/>
              <a:t>Optimalni prag vjerojatnosti oko 0.7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0E9CA493-281E-1CA2-B151-BF06889EB9E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72F503D-85C4-96FC-013E-076D5583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4</a:t>
            </a:fld>
            <a:endParaRPr lang="hr-BA" noProof="0" dirty="0"/>
          </a:p>
        </p:txBody>
      </p:sp>
      <p:pic>
        <p:nvPicPr>
          <p:cNvPr id="5" name="Slika 4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E1F32D77-CD0B-35F0-7090-9FB26153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5" y="936272"/>
            <a:ext cx="7333275" cy="488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2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2B383-224C-DD1E-A64D-9CA4D076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3EF0-6C5F-4F4F-CC68-0E1763B3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6F8583A5-B9F9-B207-5001-7F359BAB1653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Recall</a:t>
            </a:r>
            <a:r>
              <a:rPr lang="hr-BA" b="0" noProof="0" dirty="0" err="1"/>
              <a:t>-confidence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/>
              <a:t>Visok odziv za nizak prag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462781F9-479D-E955-4B62-E138A03BDBA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B154CAE-6DE5-E079-FB80-F8AD7B63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5</a:t>
            </a:fld>
            <a:endParaRPr lang="hr-BA" noProof="0" dirty="0"/>
          </a:p>
        </p:txBody>
      </p:sp>
      <p:pic>
        <p:nvPicPr>
          <p:cNvPr id="6" name="Slika 5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0D04DDB7-7657-D3F4-AF2A-DD33129AA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64" y="903828"/>
            <a:ext cx="7678632" cy="511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5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95C61-C462-461A-80F4-6A874CFA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0EED-E8C4-F2C5-1E62-16484CE0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944C2497-DD51-0696-0BEB-C7BE63C1DFFF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Precision-Recall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/>
              <a:t>Visoka preciznost i odziv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D0E49275-5A9C-64DC-C4FC-9999DC3579C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5D520DDF-C11E-0FEC-B74C-86E1281A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6</a:t>
            </a:fld>
            <a:endParaRPr lang="hr-BA" noProof="0" dirty="0"/>
          </a:p>
        </p:txBody>
      </p:sp>
      <p:pic>
        <p:nvPicPr>
          <p:cNvPr id="5" name="Slika 4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6AFDFEF3-3E86-741F-3219-8D4242F7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5" y="895350"/>
            <a:ext cx="7604838" cy="50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A314-6E41-B667-7FB1-8F05B6B4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9BBC-74C4-9C32-1D43-14D1052B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9113D35E-1C14-169A-594D-C1DD65FE4B38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Precision-Confidence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/>
              <a:t>Visoka preciznost za niske pragove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CD73C4FA-339B-211F-EC91-9C844EEA48A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0863D98B-0FE9-EF9C-8F11-98CFB37B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7</a:t>
            </a:fld>
            <a:endParaRPr lang="hr-BA" noProof="0" dirty="0"/>
          </a:p>
        </p:txBody>
      </p:sp>
      <p:pic>
        <p:nvPicPr>
          <p:cNvPr id="6" name="Slika 5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BE38ED67-5F0B-80B4-B51F-D078AE28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704" y="972273"/>
            <a:ext cx="7374788" cy="491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3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DE8C37-3856-8A6E-AEC7-012D95A3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konfuzije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C18C37F-2EA5-661C-8C57-7FE4EDD15391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Obje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100% </a:t>
            </a:r>
            <a:r>
              <a:rPr lang="en-US" dirty="0" err="1"/>
              <a:t>detekciju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je </a:t>
            </a:r>
            <a:r>
              <a:rPr lang="en-US" dirty="0" err="1"/>
              <a:t>pretreniran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Loše</a:t>
            </a:r>
            <a:r>
              <a:rPr lang="en-US" dirty="0"/>
              <a:t> </a:t>
            </a:r>
            <a:r>
              <a:rPr lang="en-US" dirty="0" err="1"/>
              <a:t>generalizira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neviđene</a:t>
            </a:r>
            <a:r>
              <a:rPr lang="en-US" dirty="0"/>
              <a:t> parking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Promjena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klasifikaciji</a:t>
            </a:r>
            <a:r>
              <a:rPr lang="en-US" dirty="0"/>
              <a:t> -&gt; 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vozila</a:t>
            </a:r>
            <a:endParaRPr lang="hr-HR" dirty="0"/>
          </a:p>
        </p:txBody>
      </p:sp>
      <p:sp>
        <p:nvSpPr>
          <p:cNvPr id="4" name="Rezervirano mjesto tablice 3">
            <a:extLst>
              <a:ext uri="{FF2B5EF4-FFF2-40B4-BE49-F238E27FC236}">
                <a16:creationId xmlns:a16="http://schemas.microsoft.com/office/drawing/2014/main" id="{2CE44490-5098-1019-FFFB-6C090BF1AAB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55EE660C-A39B-746D-9A91-420EAE33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5AF1D51-6905-6598-91B7-B3520A636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395" y="895349"/>
            <a:ext cx="7144507" cy="535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4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DC1E1-D837-77CE-BA02-5CC41D29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E004-6CB5-A1D5-1511-DBAF0DCB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noProof="0" dirty="0" err="1"/>
              <a:t>Opis</a:t>
            </a:r>
            <a:r>
              <a:rPr lang="en-US" noProof="0" dirty="0"/>
              <a:t> </a:t>
            </a:r>
            <a:r>
              <a:rPr lang="en-US" noProof="0" dirty="0" err="1"/>
              <a:t>skupa</a:t>
            </a:r>
            <a:r>
              <a:rPr lang="en-US" noProof="0" dirty="0"/>
              <a:t> </a:t>
            </a:r>
            <a:r>
              <a:rPr lang="en-US" noProof="0" dirty="0" err="1"/>
              <a:t>podataka</a:t>
            </a:r>
            <a:endParaRPr lang="hr-BA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C9CF4-81A2-D5E4-EEC6-CEFFA9E3F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 err="1"/>
              <a:t>VisDrone</a:t>
            </a:r>
            <a:r>
              <a:rPr lang="en-US" b="0" noProof="0" dirty="0"/>
              <a:t> + PKLOT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VisDrone</a:t>
            </a:r>
            <a:r>
              <a:rPr lang="en-US" b="0" dirty="0"/>
              <a:t>:</a:t>
            </a:r>
          </a:p>
          <a:p>
            <a:pPr marL="569214" lvl="1"/>
            <a:r>
              <a:rPr lang="en-US" noProof="0" dirty="0" err="1"/>
              <a:t>Detekcija</a:t>
            </a:r>
            <a:r>
              <a:rPr lang="en-US" noProof="0" dirty="0"/>
              <a:t> </a:t>
            </a:r>
            <a:r>
              <a:rPr lang="en-US" noProof="0" dirty="0" err="1"/>
              <a:t>objekata</a:t>
            </a:r>
            <a:r>
              <a:rPr lang="en-US" noProof="0" dirty="0"/>
              <a:t> </a:t>
            </a:r>
            <a:r>
              <a:rPr lang="en-US" noProof="0" dirty="0" err="1"/>
              <a:t>na</a:t>
            </a:r>
            <a:r>
              <a:rPr lang="en-US" noProof="0" dirty="0"/>
              <a:t> </a:t>
            </a:r>
            <a:r>
              <a:rPr lang="en-US" noProof="0" dirty="0" err="1"/>
              <a:t>slikama</a:t>
            </a:r>
            <a:endParaRPr lang="en-US" noProof="0" dirty="0"/>
          </a:p>
          <a:p>
            <a:pPr marL="569214" lvl="1"/>
            <a:r>
              <a:rPr lang="en-US" b="0" dirty="0"/>
              <a:t>6,</a:t>
            </a:r>
            <a:r>
              <a:rPr lang="en-US" dirty="0"/>
              <a:t>471 </a:t>
            </a:r>
            <a:r>
              <a:rPr lang="en-US" dirty="0" err="1"/>
              <a:t>slika</a:t>
            </a:r>
            <a:r>
              <a:rPr lang="en-US" dirty="0"/>
              <a:t> (train set)</a:t>
            </a:r>
          </a:p>
          <a:p>
            <a:pPr marL="569214" lvl="1"/>
            <a:r>
              <a:rPr lang="en-US" dirty="0" err="1"/>
              <a:t>Prilagođen</a:t>
            </a:r>
            <a:r>
              <a:rPr lang="en-US" dirty="0"/>
              <a:t> </a:t>
            </a:r>
            <a:r>
              <a:rPr lang="en-US" dirty="0" err="1"/>
              <a:t>zadatku</a:t>
            </a:r>
            <a:r>
              <a:rPr lang="en-US" dirty="0"/>
              <a:t> -&gt; </a:t>
            </a:r>
            <a:r>
              <a:rPr lang="en-US" dirty="0" err="1"/>
              <a:t>klasificira</a:t>
            </a:r>
            <a:r>
              <a:rPr lang="en-US" dirty="0"/>
              <a:t> </a:t>
            </a:r>
            <a:r>
              <a:rPr lang="en-US" dirty="0" err="1"/>
              <a:t>objekte</a:t>
            </a:r>
            <a:r>
              <a:rPr lang="en-US" dirty="0"/>
              <a:t> u </a:t>
            </a:r>
            <a:r>
              <a:rPr lang="en-US" b="1" dirty="0"/>
              <a:t>vehicle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non-vehicle</a:t>
            </a:r>
          </a:p>
          <a:p>
            <a:pPr marL="569214" lvl="1"/>
            <a:r>
              <a:rPr lang="en-US" b="1" dirty="0" err="1"/>
              <a:t>Augmentiran</a:t>
            </a:r>
            <a:r>
              <a:rPr lang="en-US" dirty="0"/>
              <a:t> </a:t>
            </a:r>
            <a:r>
              <a:rPr lang="en-US" dirty="0" err="1"/>
              <a:t>pomoću</a:t>
            </a:r>
            <a:r>
              <a:rPr lang="en-US" dirty="0"/>
              <a:t> Python </a:t>
            </a:r>
            <a:r>
              <a:rPr lang="en-US" dirty="0" err="1"/>
              <a:t>skripte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/>
              <a:t>PKLOT </a:t>
            </a:r>
            <a:r>
              <a:rPr lang="en-US" b="0" noProof="0" dirty="0" err="1"/>
              <a:t>korišten</a:t>
            </a:r>
            <a:r>
              <a:rPr lang="en-US" b="0" noProof="0" dirty="0"/>
              <a:t> za test </a:t>
            </a:r>
            <a:r>
              <a:rPr lang="en-US" b="0" noProof="0" dirty="0" err="1"/>
              <a:t>i</a:t>
            </a:r>
            <a:r>
              <a:rPr lang="en-US" b="0" noProof="0" dirty="0"/>
              <a:t> </a:t>
            </a:r>
            <a:r>
              <a:rPr lang="en-US" b="0" noProof="0" dirty="0" err="1"/>
              <a:t>validaciju</a:t>
            </a:r>
            <a:endParaRPr lang="en-US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19,413 </a:t>
            </a:r>
            <a:r>
              <a:rPr lang="en-US" b="0" dirty="0" err="1"/>
              <a:t>slika</a:t>
            </a:r>
            <a:r>
              <a:rPr lang="en-US" b="0" dirty="0"/>
              <a:t> u </a:t>
            </a:r>
            <a:r>
              <a:rPr lang="en-US" b="0" dirty="0" err="1"/>
              <a:t>trainu</a:t>
            </a:r>
            <a:r>
              <a:rPr lang="en-US" b="0" dirty="0"/>
              <a:t>, 1,242 </a:t>
            </a:r>
            <a:r>
              <a:rPr lang="en-US" b="0" dirty="0" err="1"/>
              <a:t>slika</a:t>
            </a:r>
            <a:r>
              <a:rPr lang="en-US" b="0" dirty="0"/>
              <a:t> u </a:t>
            </a:r>
            <a:r>
              <a:rPr lang="en-US" b="0" dirty="0" err="1"/>
              <a:t>testu</a:t>
            </a:r>
            <a:r>
              <a:rPr lang="en-US" b="0" dirty="0"/>
              <a:t> </a:t>
            </a:r>
            <a:r>
              <a:rPr lang="en-US" b="0" dirty="0" err="1"/>
              <a:t>te</a:t>
            </a:r>
            <a:r>
              <a:rPr lang="en-US" b="0" dirty="0"/>
              <a:t> 2,483 </a:t>
            </a:r>
            <a:r>
              <a:rPr lang="en-US" b="0" dirty="0" err="1"/>
              <a:t>slike</a:t>
            </a:r>
            <a:r>
              <a:rPr lang="en-US" b="0" dirty="0"/>
              <a:t> u </a:t>
            </a:r>
            <a:r>
              <a:rPr lang="en-US" b="0" dirty="0" err="1"/>
              <a:t>validaciji</a:t>
            </a:r>
            <a:r>
              <a:rPr lang="en-US" b="0" dirty="0"/>
              <a:t> </a:t>
            </a:r>
            <a:endParaRPr lang="en-US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4D0CA7F-0E46-C6F2-66C5-9116D3BC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hr-BA" noProof="0" smtClean="0"/>
              <a:pPr/>
              <a:t>9</a:t>
            </a:fld>
            <a:endParaRPr lang="hr-BA" noProof="0" dirty="0"/>
          </a:p>
        </p:txBody>
      </p:sp>
    </p:spTree>
    <p:extLst>
      <p:ext uri="{BB962C8B-B14F-4D97-AF65-F5344CB8AC3E}">
        <p14:creationId xmlns:p14="http://schemas.microsoft.com/office/powerpoint/2010/main" val="37917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F8B1D-162F-FA55-66E8-123745E9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852A-FD87-7DF6-B97C-E08824291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noProof="0" dirty="0" err="1"/>
              <a:t>Opis</a:t>
            </a:r>
            <a:r>
              <a:rPr lang="en-US" noProof="0" dirty="0"/>
              <a:t> </a:t>
            </a:r>
            <a:r>
              <a:rPr lang="en-US" noProof="0" dirty="0" err="1"/>
              <a:t>Primijenjenih</a:t>
            </a:r>
            <a:r>
              <a:rPr lang="en-US" noProof="0" dirty="0"/>
              <a:t> </a:t>
            </a:r>
            <a:r>
              <a:rPr lang="en-US" noProof="0" dirty="0" err="1"/>
              <a:t>metoda</a:t>
            </a:r>
            <a:endParaRPr lang="hr-BA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0096F-1A95-8B76-2CD8-C91017931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 err="1"/>
              <a:t>Korištena</a:t>
            </a:r>
            <a:r>
              <a:rPr lang="en-US" b="0" noProof="0" dirty="0"/>
              <a:t> </a:t>
            </a:r>
            <a:r>
              <a:rPr lang="en-US" b="0" noProof="0" dirty="0" err="1"/>
              <a:t>dva</a:t>
            </a:r>
            <a:r>
              <a:rPr lang="en-US" b="0" noProof="0" dirty="0"/>
              <a:t> YOLOv11 </a:t>
            </a:r>
            <a:r>
              <a:rPr lang="en-US" b="0" noProof="0" dirty="0" err="1"/>
              <a:t>modela</a:t>
            </a:r>
            <a:r>
              <a:rPr lang="en-US" b="0" noProof="0" dirty="0"/>
              <a:t> -&gt; medium </a:t>
            </a:r>
            <a:r>
              <a:rPr lang="en-US" b="0" noProof="0" dirty="0" err="1"/>
              <a:t>i</a:t>
            </a:r>
            <a:r>
              <a:rPr lang="en-US" b="0" dirty="0"/>
              <a:t> 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 err="1"/>
              <a:t>Kombinacija</a:t>
            </a:r>
            <a:r>
              <a:rPr lang="en-US" b="0" noProof="0" dirty="0"/>
              <a:t> </a:t>
            </a:r>
            <a:r>
              <a:rPr lang="en-US" b="0" noProof="0" dirty="0" err="1"/>
              <a:t>različitih</a:t>
            </a:r>
            <a:r>
              <a:rPr lang="en-US" b="0" noProof="0" dirty="0"/>
              <a:t> </a:t>
            </a:r>
            <a:r>
              <a:rPr lang="en-US" b="0" dirty="0" err="1"/>
              <a:t>hiperparametara</a:t>
            </a:r>
            <a:r>
              <a:rPr lang="en-US" b="0" dirty="0"/>
              <a:t>:</a:t>
            </a:r>
          </a:p>
          <a:p>
            <a:pPr marL="569214" lvl="1"/>
            <a:r>
              <a:rPr lang="en-US" b="1" noProof="0" dirty="0" err="1"/>
              <a:t>epohe</a:t>
            </a:r>
            <a:r>
              <a:rPr lang="en-US" b="1" noProof="0" dirty="0"/>
              <a:t>:</a:t>
            </a:r>
            <a:r>
              <a:rPr lang="en-US" noProof="0" dirty="0"/>
              <a:t> 5, 10, 20</a:t>
            </a:r>
          </a:p>
          <a:p>
            <a:pPr marL="569214" lvl="1"/>
            <a:r>
              <a:rPr lang="en-US" b="1" dirty="0" err="1"/>
              <a:t>batch_size</a:t>
            </a:r>
            <a:r>
              <a:rPr lang="en-US" b="1" dirty="0"/>
              <a:t>:</a:t>
            </a:r>
            <a:r>
              <a:rPr lang="en-US" dirty="0"/>
              <a:t> 4</a:t>
            </a:r>
          </a:p>
          <a:p>
            <a:pPr marL="569214" lvl="1"/>
            <a:r>
              <a:rPr lang="en-US" b="1" noProof="0" dirty="0" err="1"/>
              <a:t>Veličina_ulazne_slike</a:t>
            </a:r>
            <a:r>
              <a:rPr lang="en-US" b="1" noProof="0" dirty="0"/>
              <a:t>: </a:t>
            </a:r>
            <a:r>
              <a:rPr lang="en-US" noProof="0" dirty="0"/>
              <a:t>416x416, 640x640</a:t>
            </a:r>
          </a:p>
          <a:p>
            <a:pPr marL="569214" lvl="1"/>
            <a:r>
              <a:rPr lang="en-US" b="1" dirty="0" err="1"/>
              <a:t>Augmentacija</a:t>
            </a:r>
            <a:r>
              <a:rPr lang="en-US" b="1" dirty="0"/>
              <a:t>: </a:t>
            </a:r>
            <a:r>
              <a:rPr lang="en-US" dirty="0" err="1"/>
              <a:t>isključena</a:t>
            </a:r>
            <a:r>
              <a:rPr lang="en-US" dirty="0"/>
              <a:t> (</a:t>
            </a:r>
            <a:r>
              <a:rPr lang="en-US" dirty="0" err="1"/>
              <a:t>koristi</a:t>
            </a:r>
            <a:r>
              <a:rPr lang="en-US" dirty="0"/>
              <a:t> se </a:t>
            </a:r>
            <a:r>
              <a:rPr lang="en-US" dirty="0" err="1"/>
              <a:t>bazična</a:t>
            </a:r>
            <a:r>
              <a:rPr lang="en-US" dirty="0"/>
              <a:t> </a:t>
            </a:r>
            <a:r>
              <a:rPr lang="en-US" b="1" dirty="0"/>
              <a:t>mosaic </a:t>
            </a:r>
            <a:r>
              <a:rPr lang="en-US" b="1" dirty="0" err="1"/>
              <a:t>augmentacija</a:t>
            </a:r>
            <a:r>
              <a:rPr lang="en-US" dirty="0"/>
              <a:t>)</a:t>
            </a:r>
            <a:endParaRPr lang="en-US" b="1" dirty="0"/>
          </a:p>
          <a:p>
            <a:pPr marL="569214" lvl="1"/>
            <a:r>
              <a:rPr lang="en-US" b="1" noProof="0" dirty="0"/>
              <a:t>Warmup: </a:t>
            </a:r>
            <a:r>
              <a:rPr lang="en-US" noProof="0" dirty="0" err="1"/>
              <a:t>prve</a:t>
            </a:r>
            <a:r>
              <a:rPr lang="en-US" noProof="0" dirty="0"/>
              <a:t> tri </a:t>
            </a:r>
            <a:r>
              <a:rPr lang="en-US" noProof="0" dirty="0" err="1"/>
              <a:t>epoh</a:t>
            </a:r>
            <a:r>
              <a:rPr lang="en-US" dirty="0"/>
              <a:t>e (za </a:t>
            </a:r>
            <a:r>
              <a:rPr lang="en-US" dirty="0" err="1"/>
              <a:t>treniranje</a:t>
            </a:r>
            <a:r>
              <a:rPr lang="en-US" dirty="0"/>
              <a:t> od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epoha</a:t>
            </a:r>
            <a:r>
              <a:rPr lang="en-US" dirty="0"/>
              <a:t>)</a:t>
            </a:r>
          </a:p>
          <a:p>
            <a:pPr marL="569214" lvl="1"/>
            <a:r>
              <a:rPr lang="en-US" b="1" noProof="0" dirty="0"/>
              <a:t>Early stopping: </a:t>
            </a:r>
            <a:r>
              <a:rPr lang="en-US" noProof="0" dirty="0" err="1"/>
              <a:t>korišten</a:t>
            </a:r>
            <a:r>
              <a:rPr lang="en-US" noProof="0" dirty="0"/>
              <a:t> po </a:t>
            </a:r>
            <a:r>
              <a:rPr lang="en-US" noProof="0" dirty="0" err="1"/>
              <a:t>pravilu</a:t>
            </a:r>
            <a:r>
              <a:rPr lang="en-US" noProof="0" dirty="0"/>
              <a:t> </a:t>
            </a:r>
            <a:r>
              <a:rPr lang="en-US" noProof="0" dirty="0" err="1"/>
              <a:t>broj</a:t>
            </a:r>
            <a:r>
              <a:rPr lang="en-US" noProof="0" dirty="0"/>
              <a:t> </a:t>
            </a:r>
            <a:r>
              <a:rPr lang="en-US" noProof="0" dirty="0" err="1"/>
              <a:t>epoha</a:t>
            </a:r>
            <a:r>
              <a:rPr lang="en-US" noProof="0" dirty="0"/>
              <a:t>//2</a:t>
            </a:r>
            <a:endParaRPr lang="hr-BA" b="1" noProof="0" dirty="0"/>
          </a:p>
          <a:p>
            <a:endParaRPr lang="hr-BA" b="0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295A636-50B3-F7CA-D609-D3A08220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hr-BA" noProof="0" smtClean="0"/>
              <a:pPr/>
              <a:t>10</a:t>
            </a:fld>
            <a:endParaRPr lang="hr-BA" noProof="0" dirty="0"/>
          </a:p>
        </p:txBody>
      </p:sp>
    </p:spTree>
    <p:extLst>
      <p:ext uri="{BB962C8B-B14F-4D97-AF65-F5344CB8AC3E}">
        <p14:creationId xmlns:p14="http://schemas.microsoft.com/office/powerpoint/2010/main" val="389603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E6DA-94A9-DB28-FF8F-3627AAC7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C436-66CA-113E-EFFA-FF42EC006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noProof="0" dirty="0" err="1"/>
              <a:t>Opis</a:t>
            </a:r>
            <a:r>
              <a:rPr lang="en-US" noProof="0" dirty="0"/>
              <a:t> </a:t>
            </a:r>
            <a:r>
              <a:rPr lang="en-US" noProof="0" dirty="0" err="1"/>
              <a:t>eksperimenta</a:t>
            </a:r>
            <a:endParaRPr lang="hr-BA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1C2F1-D613-F624-7362-D985277E0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 err="1"/>
              <a:t>Istraživanje</a:t>
            </a:r>
            <a:r>
              <a:rPr lang="en-US" b="0" noProof="0" dirty="0"/>
              <a:t> </a:t>
            </a:r>
            <a:r>
              <a:rPr lang="en-US" b="0" noProof="0" dirty="0" err="1"/>
              <a:t>učinkovitosti</a:t>
            </a:r>
            <a:r>
              <a:rPr lang="en-US" b="0" noProof="0" dirty="0"/>
              <a:t> </a:t>
            </a:r>
            <a:r>
              <a:rPr lang="en-US" b="0" noProof="0" dirty="0" err="1"/>
              <a:t>različitih</a:t>
            </a:r>
            <a:r>
              <a:rPr lang="en-US" b="0" noProof="0" dirty="0"/>
              <a:t> </a:t>
            </a:r>
            <a:r>
              <a:rPr lang="en-US" b="0" noProof="0" dirty="0" err="1"/>
              <a:t>konfiguracija</a:t>
            </a:r>
            <a:r>
              <a:rPr lang="en-US" b="0" noProof="0" dirty="0"/>
              <a:t> </a:t>
            </a:r>
            <a:r>
              <a:rPr lang="en-US" b="0" noProof="0" dirty="0" err="1"/>
              <a:t>hiperparametara</a:t>
            </a:r>
            <a:r>
              <a:rPr lang="en-US" b="0" noProof="0" dirty="0"/>
              <a:t>:</a:t>
            </a:r>
          </a:p>
          <a:p>
            <a:pPr marL="569214" lvl="1"/>
            <a:r>
              <a:rPr lang="en-US" dirty="0" err="1"/>
              <a:t>Epohe</a:t>
            </a:r>
            <a:r>
              <a:rPr lang="en-US" dirty="0"/>
              <a:t> – 5, 10, 20</a:t>
            </a:r>
          </a:p>
          <a:p>
            <a:pPr marL="569214" lvl="1"/>
            <a:r>
              <a:rPr lang="en-US" b="0" noProof="0" dirty="0" err="1"/>
              <a:t>Veličina</a:t>
            </a:r>
            <a:r>
              <a:rPr lang="en-US" dirty="0"/>
              <a:t> </a:t>
            </a:r>
            <a:r>
              <a:rPr lang="en-US" dirty="0" err="1"/>
              <a:t>ulaznih</a:t>
            </a:r>
            <a:r>
              <a:rPr lang="en-US" dirty="0"/>
              <a:t> </a:t>
            </a:r>
            <a:r>
              <a:rPr lang="en-US" dirty="0" err="1"/>
              <a:t>slika</a:t>
            </a:r>
            <a:r>
              <a:rPr lang="en-US" dirty="0"/>
              <a:t> – 416, 640</a:t>
            </a:r>
            <a:endParaRPr lang="en-US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Korišten</a:t>
            </a:r>
            <a:r>
              <a:rPr lang="en-US" b="0" dirty="0"/>
              <a:t> YOLOv11 medium </a:t>
            </a:r>
            <a:r>
              <a:rPr lang="en-US" b="0" dirty="0" err="1"/>
              <a:t>i</a:t>
            </a:r>
            <a:r>
              <a:rPr lang="en-US" b="0" dirty="0"/>
              <a:t> YOLOv11 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Praćenje</a:t>
            </a:r>
            <a:r>
              <a:rPr lang="en-US" b="0" dirty="0"/>
              <a:t> </a:t>
            </a:r>
            <a:r>
              <a:rPr lang="en-US" b="0" dirty="0" err="1"/>
              <a:t>metrika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vizualizacija</a:t>
            </a:r>
            <a:r>
              <a:rPr lang="en-US" b="0" dirty="0"/>
              <a:t> </a:t>
            </a:r>
            <a:r>
              <a:rPr lang="en-US" b="0" dirty="0" err="1"/>
              <a:t>treniranja</a:t>
            </a:r>
            <a:r>
              <a:rPr lang="en-US" b="0" dirty="0"/>
              <a:t> </a:t>
            </a:r>
            <a:r>
              <a:rPr lang="en-US" b="0" dirty="0" err="1"/>
              <a:t>modela</a:t>
            </a:r>
            <a:r>
              <a:rPr lang="en-US" b="0" dirty="0"/>
              <a:t> </a:t>
            </a:r>
            <a:r>
              <a:rPr lang="en-US" b="0" dirty="0" err="1"/>
              <a:t>sa</a:t>
            </a:r>
            <a:r>
              <a:rPr lang="en-US" b="0" dirty="0"/>
              <a:t> </a:t>
            </a:r>
            <a:r>
              <a:rPr lang="en-US" b="0" dirty="0" err="1"/>
              <a:t>svim</a:t>
            </a:r>
            <a:r>
              <a:rPr lang="en-US" b="0" dirty="0"/>
              <a:t> </a:t>
            </a:r>
            <a:r>
              <a:rPr lang="en-US" b="0" dirty="0" err="1"/>
              <a:t>kombinacijama</a:t>
            </a:r>
            <a:r>
              <a:rPr lang="en-US" b="0" dirty="0"/>
              <a:t> </a:t>
            </a:r>
            <a:r>
              <a:rPr lang="en-US" b="0" dirty="0" err="1"/>
              <a:t>hiperparametara</a:t>
            </a: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5ECFFB1-AF8A-BBF8-DA96-77AFB421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hr-BA" noProof="0" smtClean="0"/>
              <a:pPr/>
              <a:t>11</a:t>
            </a:fld>
            <a:endParaRPr lang="hr-BA" noProof="0" dirty="0"/>
          </a:p>
        </p:txBody>
      </p:sp>
    </p:spTree>
    <p:extLst>
      <p:ext uri="{BB962C8B-B14F-4D97-AF65-F5344CB8AC3E}">
        <p14:creationId xmlns:p14="http://schemas.microsoft.com/office/powerpoint/2010/main" val="4148579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C90951B-8798-4032-150E-965E829D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rezultati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– YOLOv11 large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A685548-26DE-EDC8-9AC6-B8BC7483D4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Parametri</a:t>
            </a:r>
            <a:r>
              <a:rPr lang="en-US" dirty="0"/>
              <a:t>:</a:t>
            </a:r>
          </a:p>
          <a:p>
            <a:pPr marL="569214" lvl="1"/>
            <a:r>
              <a:rPr lang="en-US" dirty="0" err="1"/>
              <a:t>Epohe</a:t>
            </a:r>
            <a:r>
              <a:rPr lang="en-US" dirty="0"/>
              <a:t>: 20</a:t>
            </a:r>
          </a:p>
          <a:p>
            <a:pPr marL="569214" lvl="1"/>
            <a:r>
              <a:rPr lang="en-US" dirty="0"/>
              <a:t>Patience: 10</a:t>
            </a:r>
          </a:p>
          <a:p>
            <a:pPr marL="569214" lvl="1"/>
            <a:r>
              <a:rPr lang="en-US" dirty="0"/>
              <a:t>Batch size: 4</a:t>
            </a:r>
          </a:p>
          <a:p>
            <a:pPr marL="569214" lvl="1"/>
            <a:r>
              <a:rPr lang="en-US" dirty="0"/>
              <a:t>Image size: 640</a:t>
            </a:r>
          </a:p>
          <a:p>
            <a:pPr marL="569214" lvl="1"/>
            <a:r>
              <a:rPr lang="en-US" dirty="0"/>
              <a:t>Augment: </a:t>
            </a:r>
            <a:r>
              <a:rPr lang="en-US" dirty="0" err="1"/>
              <a:t>isključen</a:t>
            </a:r>
            <a:endParaRPr lang="en-US" dirty="0"/>
          </a:p>
          <a:p>
            <a:pPr marL="569214" lvl="1"/>
            <a:r>
              <a:rPr lang="en-US" dirty="0"/>
              <a:t>Warmup </a:t>
            </a:r>
            <a:r>
              <a:rPr lang="en-US" dirty="0" err="1"/>
              <a:t>epohe</a:t>
            </a:r>
            <a:r>
              <a:rPr lang="en-US" dirty="0"/>
              <a:t>: 3</a:t>
            </a:r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00A6136-1A01-39E7-AB66-41DB8348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60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B144-AD4D-D3B4-5774-4AC47ED5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A8F3-C224-021D-7761-4121C893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A50853C5-4CC5-7023-33B0-ED6E07D38C52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b="0" noProof="0" dirty="0"/>
              <a:t>F1-confidence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/>
              <a:t>Optimalni prag vjerojatnosti oko 0.7</a:t>
            </a:r>
            <a:r>
              <a:rPr lang="en-US" noProof="0" dirty="0"/>
              <a:t>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F1 je 0.29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Za non-vehicle </a:t>
            </a:r>
            <a:r>
              <a:rPr lang="en-US" noProof="0" dirty="0" err="1"/>
              <a:t>klasu</a:t>
            </a:r>
            <a:r>
              <a:rPr lang="en-US" noProof="0" dirty="0"/>
              <a:t> je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Za vehicle </a:t>
            </a:r>
            <a:r>
              <a:rPr lang="en-US" dirty="0" err="1"/>
              <a:t>klasu</a:t>
            </a:r>
            <a:r>
              <a:rPr lang="en-US" dirty="0"/>
              <a:t> je </a:t>
            </a:r>
            <a:r>
              <a:rPr lang="en-US" dirty="0" err="1"/>
              <a:t>oko</a:t>
            </a:r>
            <a:r>
              <a:rPr lang="en-US" dirty="0"/>
              <a:t> 0.6 za confidence od 0.8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456D2E07-7B98-EE0C-E7BB-1B82C5CD987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15310E3-877C-876F-A22B-FB4B595A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13</a:t>
            </a:fld>
            <a:endParaRPr lang="hr-BA" noProof="0" dirty="0"/>
          </a:p>
        </p:txBody>
      </p:sp>
      <p:pic>
        <p:nvPicPr>
          <p:cNvPr id="5" name="Slika 4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01A934B5-088B-A026-82DB-2E3D159A9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5" y="936272"/>
            <a:ext cx="7333275" cy="4885794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8B1911DC-011E-CE87-457D-40DC23F3E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395" y="895350"/>
            <a:ext cx="7328691" cy="488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25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1AF53-698B-5C9E-478D-54A33430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B648-DDB1-0E5B-20F3-8E156C70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9CF3A01C-179B-83A0-F45B-7BE31B572A6B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Recall</a:t>
            </a:r>
            <a:r>
              <a:rPr lang="hr-BA" b="0" noProof="0" dirty="0" err="1"/>
              <a:t>-confidence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/>
              <a:t>Vehicle </a:t>
            </a:r>
            <a:r>
              <a:rPr lang="en-US" b="0" noProof="0" dirty="0" err="1"/>
              <a:t>klasa</a:t>
            </a:r>
            <a:r>
              <a:rPr lang="en-US" b="0" noProof="0" dirty="0"/>
              <a:t> </a:t>
            </a:r>
            <a:r>
              <a:rPr lang="en-US" b="0" noProof="0" dirty="0" err="1"/>
              <a:t>ima</a:t>
            </a:r>
            <a:r>
              <a:rPr lang="en-US" b="0" noProof="0" dirty="0"/>
              <a:t> </a:t>
            </a:r>
            <a:r>
              <a:rPr lang="en-US" b="0" noProof="0" dirty="0" err="1"/>
              <a:t>visok</a:t>
            </a:r>
            <a:r>
              <a:rPr lang="en-US" b="0" noProof="0" dirty="0"/>
              <a:t> </a:t>
            </a:r>
            <a:r>
              <a:rPr lang="en-US" b="0" noProof="0" dirty="0" err="1"/>
              <a:t>odziv</a:t>
            </a:r>
            <a:r>
              <a:rPr lang="en-US" b="0" noProof="0" dirty="0"/>
              <a:t> (0.9) do </a:t>
            </a:r>
            <a:r>
              <a:rPr lang="en-US" b="0" noProof="0" dirty="0" err="1"/>
              <a:t>pouzdanosti</a:t>
            </a:r>
            <a:r>
              <a:rPr lang="en-US" b="0" noProof="0" dirty="0"/>
              <a:t> od </a:t>
            </a:r>
            <a:r>
              <a:rPr lang="en-US" b="0" noProof="0" dirty="0" err="1"/>
              <a:t>oko</a:t>
            </a:r>
            <a:r>
              <a:rPr lang="en-US" b="0" noProof="0" dirty="0"/>
              <a:t> 0.8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Ukupni</a:t>
            </a:r>
            <a:r>
              <a:rPr lang="en-US" dirty="0"/>
              <a:t> recall </a:t>
            </a:r>
            <a:r>
              <a:rPr lang="en-US" dirty="0" err="1"/>
              <a:t>ispod</a:t>
            </a:r>
            <a:r>
              <a:rPr lang="en-US" dirty="0"/>
              <a:t> 50%</a:t>
            </a: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AEF3FBA8-C47B-C57D-D767-B50178D05C3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A352E81-EFA4-DD34-9EF9-E1B24E01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14</a:t>
            </a:fld>
            <a:endParaRPr lang="hr-BA" noProof="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55BAD2B2-5F42-3541-E12C-3CD3F445E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62" y="846184"/>
            <a:ext cx="7802880" cy="52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9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DD81-1B1B-10D0-87A2-E3957468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EED35-3D89-A294-EC09-2F95BBB6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267C477E-99E3-4FCA-9E95-8C6347FF76B8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Precision-Recall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0.25 za mAP@0.5 -&gt; </a:t>
            </a:r>
            <a:r>
              <a:rPr lang="en-US" noProof="0" dirty="0" err="1"/>
              <a:t>loša</a:t>
            </a:r>
            <a:r>
              <a:rPr lang="en-US" noProof="0" dirty="0"/>
              <a:t> </a:t>
            </a:r>
            <a:r>
              <a:rPr lang="en-US" noProof="0" dirty="0" err="1"/>
              <a:t>sposobnost</a:t>
            </a:r>
            <a:r>
              <a:rPr lang="en-US" noProof="0" dirty="0"/>
              <a:t> </a:t>
            </a:r>
            <a:r>
              <a:rPr lang="en-US" noProof="0" dirty="0" err="1"/>
              <a:t>označavanja</a:t>
            </a:r>
            <a:r>
              <a:rPr lang="en-US" noProof="0" dirty="0"/>
              <a:t> </a:t>
            </a:r>
            <a:r>
              <a:rPr lang="en-US" noProof="0" dirty="0" err="1"/>
              <a:t>objekata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Vehicle </a:t>
            </a:r>
            <a:r>
              <a:rPr lang="en-US" noProof="0" dirty="0" err="1"/>
              <a:t>klasa</a:t>
            </a:r>
            <a:r>
              <a:rPr lang="en-US" noProof="0" dirty="0"/>
              <a:t> </a:t>
            </a:r>
            <a:r>
              <a:rPr lang="en-US" noProof="0" dirty="0" err="1"/>
              <a:t>ima</a:t>
            </a:r>
            <a:r>
              <a:rPr lang="en-US" noProof="0" dirty="0"/>
              <a:t> </a:t>
            </a:r>
            <a:r>
              <a:rPr lang="en-US" noProof="0" dirty="0" err="1"/>
              <a:t>bolju</a:t>
            </a:r>
            <a:r>
              <a:rPr lang="en-US" noProof="0" dirty="0"/>
              <a:t> Precision-Recall </a:t>
            </a:r>
            <a:r>
              <a:rPr lang="en-US" noProof="0" dirty="0" err="1"/>
              <a:t>krivulju</a:t>
            </a:r>
            <a:r>
              <a:rPr lang="en-US" noProof="0" dirty="0"/>
              <a:t>  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8E4B71B1-1232-575B-9112-001B23CF682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E89B8067-0361-798D-62A1-3E881291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15</a:t>
            </a:fld>
            <a:endParaRPr lang="hr-BA" noProof="0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0D3BB564-F10D-6AB1-761B-23006FCB5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545" y="1087965"/>
            <a:ext cx="7023105" cy="468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19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04A02-1734-A3DF-E9CB-D201A781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355A-7776-AF6D-41ED-7105C22B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23EB01A6-E49C-A812-E2E3-7B5B90381AFF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Precision-Confidence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Preciz</a:t>
            </a:r>
            <a:r>
              <a:rPr lang="en-US" dirty="0" err="1"/>
              <a:t>nost</a:t>
            </a:r>
            <a:r>
              <a:rPr lang="en-US" dirty="0"/>
              <a:t> </a:t>
            </a:r>
            <a:r>
              <a:rPr lang="en-US" dirty="0" err="1"/>
              <a:t>raste</a:t>
            </a:r>
            <a:r>
              <a:rPr lang="en-US" dirty="0"/>
              <a:t> </a:t>
            </a:r>
            <a:r>
              <a:rPr lang="en-US" dirty="0" err="1"/>
              <a:t>povećanjem</a:t>
            </a:r>
            <a:r>
              <a:rPr lang="en-US" dirty="0"/>
              <a:t> confidence </a:t>
            </a:r>
            <a:r>
              <a:rPr lang="en-US" dirty="0" err="1"/>
              <a:t>vrijednosti</a:t>
            </a:r>
            <a:r>
              <a:rPr lang="en-US" dirty="0"/>
              <a:t> za “all classes” </a:t>
            </a:r>
            <a:r>
              <a:rPr lang="en-US" dirty="0" err="1"/>
              <a:t>te</a:t>
            </a:r>
            <a:r>
              <a:rPr lang="en-US" dirty="0"/>
              <a:t> “vehicles”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/>
              <a:t>“non-vehicle” </a:t>
            </a:r>
            <a:r>
              <a:rPr lang="en-US" b="0" noProof="0" dirty="0" err="1"/>
              <a:t>klase</a:t>
            </a:r>
            <a:r>
              <a:rPr lang="en-US" b="0" noProof="0" dirty="0"/>
              <a:t> </a:t>
            </a:r>
            <a:r>
              <a:rPr lang="en-US" b="0" noProof="0" dirty="0" err="1"/>
              <a:t>imaju</a:t>
            </a:r>
            <a:r>
              <a:rPr lang="en-US" b="0" noProof="0" dirty="0"/>
              <a:t> </a:t>
            </a:r>
            <a:r>
              <a:rPr lang="en-US" b="0" noProof="0" dirty="0" err="1"/>
              <a:t>lošu</a:t>
            </a:r>
            <a:r>
              <a:rPr lang="en-US" b="0" noProof="0" dirty="0"/>
              <a:t> </a:t>
            </a:r>
            <a:r>
              <a:rPr lang="en-US" b="0" noProof="0" dirty="0" err="1"/>
              <a:t>preciznost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6EEAA8A0-6048-553A-F631-5B7A9DEB98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2141209-D129-914C-729C-65D7DBED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16</a:t>
            </a:fld>
            <a:endParaRPr lang="hr-BA" noProof="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53D8457A-00C8-8763-FEF7-60E8AEA24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5" y="895350"/>
            <a:ext cx="7674699" cy="511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4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59F4C-0976-BFF3-98EF-A63AD3B0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C91C33-134B-B856-035F-6EE720DC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konfuzije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2B4A1C5-1C5E-CA9A-A18C-A4CB61885B76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Izvrsna</a:t>
            </a:r>
            <a:r>
              <a:rPr lang="en-US" sz="1600" dirty="0"/>
              <a:t> </a:t>
            </a:r>
            <a:r>
              <a:rPr lang="en-US" sz="1600" dirty="0" err="1"/>
              <a:t>detekcija</a:t>
            </a:r>
            <a:r>
              <a:rPr lang="en-US" sz="1600" dirty="0"/>
              <a:t> </a:t>
            </a:r>
            <a:r>
              <a:rPr lang="en-US" sz="1600" dirty="0" err="1"/>
              <a:t>vozila</a:t>
            </a:r>
            <a:r>
              <a:rPr lang="en-US" sz="1600" dirty="0"/>
              <a:t> – 97% </a:t>
            </a:r>
            <a:r>
              <a:rPr lang="en-US" sz="1600" dirty="0" err="1"/>
              <a:t>vozila</a:t>
            </a:r>
            <a:r>
              <a:rPr lang="en-US" sz="1600" dirty="0"/>
              <a:t> je </a:t>
            </a:r>
            <a:r>
              <a:rPr lang="en-US" sz="1600" dirty="0" err="1"/>
              <a:t>detektirano</a:t>
            </a:r>
            <a:r>
              <a:rPr lang="en-US" sz="1600" dirty="0"/>
              <a:t> </a:t>
            </a:r>
            <a:r>
              <a:rPr lang="en-US" sz="1600" dirty="0" err="1"/>
              <a:t>kao</a:t>
            </a:r>
            <a:r>
              <a:rPr lang="en-US" sz="1600" dirty="0"/>
              <a:t> </a:t>
            </a:r>
            <a:r>
              <a:rPr lang="en-US" sz="1600" dirty="0" err="1"/>
              <a:t>vozila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Loša</a:t>
            </a:r>
            <a:r>
              <a:rPr lang="en-US" sz="1600" dirty="0"/>
              <a:t> </a:t>
            </a:r>
            <a:r>
              <a:rPr lang="en-US" sz="1600" dirty="0" err="1"/>
              <a:t>detekcija</a:t>
            </a:r>
            <a:r>
              <a:rPr lang="en-US" sz="1600" dirty="0"/>
              <a:t> </a:t>
            </a:r>
            <a:r>
              <a:rPr lang="en-US" sz="1600" dirty="0" err="1"/>
              <a:t>drugih</a:t>
            </a:r>
            <a:r>
              <a:rPr lang="en-US" sz="1600" dirty="0"/>
              <a:t> </a:t>
            </a:r>
            <a:r>
              <a:rPr lang="en-US" sz="1600" dirty="0" err="1"/>
              <a:t>objekata</a:t>
            </a:r>
            <a:r>
              <a:rPr lang="en-US" sz="1600" dirty="0"/>
              <a:t> -&gt; 5% </a:t>
            </a:r>
            <a:r>
              <a:rPr lang="en-US" sz="1600" dirty="0" err="1"/>
              <a:t>ih</a:t>
            </a:r>
            <a:r>
              <a:rPr lang="en-US" sz="1600" dirty="0"/>
              <a:t> je </a:t>
            </a:r>
            <a:r>
              <a:rPr lang="en-US" sz="1600" dirty="0" err="1"/>
              <a:t>detektirano</a:t>
            </a:r>
            <a:r>
              <a:rPr lang="en-US" sz="1600" dirty="0"/>
              <a:t> </a:t>
            </a:r>
            <a:r>
              <a:rPr lang="en-US" sz="1600" dirty="0" err="1"/>
              <a:t>kao</a:t>
            </a:r>
            <a:r>
              <a:rPr lang="en-US" sz="1600" dirty="0"/>
              <a:t> non-vehicle</a:t>
            </a:r>
            <a:endParaRPr lang="hr-HR" sz="1600" dirty="0"/>
          </a:p>
        </p:txBody>
      </p:sp>
      <p:sp>
        <p:nvSpPr>
          <p:cNvPr id="4" name="Rezervirano mjesto tablice 3">
            <a:extLst>
              <a:ext uri="{FF2B5EF4-FFF2-40B4-BE49-F238E27FC236}">
                <a16:creationId xmlns:a16="http://schemas.microsoft.com/office/drawing/2014/main" id="{BBDD1213-966E-2A9F-5CC5-E772DA2440D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8C25B7F9-F7F5-6EBC-BFAA-73414D99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11169D35-CA12-15A7-DB8E-6F7B3F9B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395" y="895351"/>
            <a:ext cx="7061205" cy="529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30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68E8-B136-E48F-B2E5-1A9444B0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5F76D7E-2352-6C89-51B5-6E0999AE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rezultati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– YOLOv11 Medium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156DCA9-8D84-79B5-D6CD-F96A6AA4EE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Parametri</a:t>
            </a:r>
            <a:r>
              <a:rPr lang="en-US" dirty="0"/>
              <a:t>:</a:t>
            </a:r>
          </a:p>
          <a:p>
            <a:pPr marL="569214" lvl="1"/>
            <a:r>
              <a:rPr lang="en-US" dirty="0" err="1"/>
              <a:t>Epohe</a:t>
            </a:r>
            <a:r>
              <a:rPr lang="en-US" dirty="0"/>
              <a:t>: 10</a:t>
            </a:r>
          </a:p>
          <a:p>
            <a:pPr marL="569214" lvl="1"/>
            <a:r>
              <a:rPr lang="en-US" dirty="0"/>
              <a:t>Patience: 5</a:t>
            </a:r>
          </a:p>
          <a:p>
            <a:pPr marL="569214" lvl="1"/>
            <a:r>
              <a:rPr lang="en-US" dirty="0"/>
              <a:t>Batch size: 4</a:t>
            </a:r>
          </a:p>
          <a:p>
            <a:pPr marL="569214" lvl="1"/>
            <a:r>
              <a:rPr lang="en-US" dirty="0"/>
              <a:t>Image size: 640</a:t>
            </a:r>
          </a:p>
          <a:p>
            <a:pPr marL="569214" lvl="1"/>
            <a:r>
              <a:rPr lang="en-US" dirty="0"/>
              <a:t>Augment: </a:t>
            </a:r>
            <a:r>
              <a:rPr lang="en-US" dirty="0" err="1"/>
              <a:t>isključen</a:t>
            </a:r>
            <a:endParaRPr lang="en-US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08A1791-344E-391C-4FD8-E1D25219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48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C959A-D575-DCDD-1071-76BDFDD8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6057-BF4F-29DA-733D-EB4103EF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C8A4158C-36A4-B570-4987-D86F6D0DC682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b="0" noProof="0" dirty="0"/>
              <a:t>F1-confidence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/>
              <a:t>Optimalni prag vjerojatnosti oko 0.7</a:t>
            </a:r>
            <a:r>
              <a:rPr lang="en-US" noProof="0" dirty="0"/>
              <a:t>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F1 je 0.3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Za non-vehicle </a:t>
            </a:r>
            <a:r>
              <a:rPr lang="en-US" noProof="0" dirty="0" err="1"/>
              <a:t>klasu</a:t>
            </a:r>
            <a:r>
              <a:rPr lang="en-US" noProof="0" dirty="0"/>
              <a:t> je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Za vehicle </a:t>
            </a:r>
            <a:r>
              <a:rPr lang="en-US" dirty="0" err="1"/>
              <a:t>klasu</a:t>
            </a:r>
            <a:r>
              <a:rPr lang="en-US" dirty="0"/>
              <a:t> je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iznad</a:t>
            </a:r>
            <a:r>
              <a:rPr lang="en-US" dirty="0"/>
              <a:t> 0.6 za confidence od 0.8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242279CA-4C41-1A36-BADD-E739BF7E42F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BE6D1A34-D02F-4821-F0E1-F3C2004E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19</a:t>
            </a:fld>
            <a:endParaRPr lang="hr-BA" noProof="0" dirty="0"/>
          </a:p>
        </p:txBody>
      </p:sp>
      <p:pic>
        <p:nvPicPr>
          <p:cNvPr id="5" name="Slika 4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02D8D081-0677-15E7-00C2-C954CDA1E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5" y="936272"/>
            <a:ext cx="7333275" cy="4885794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F3B64FE9-6894-6927-59FC-BDC443F43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394" y="895350"/>
            <a:ext cx="7328692" cy="488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38E8-5A54-C97A-BEE4-9C2B82EC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D495-3790-3DCC-380B-628DB89F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BB3604E9-FFDB-CCAA-E2F0-DD362EA0CFF2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Recall</a:t>
            </a:r>
            <a:r>
              <a:rPr lang="hr-BA" b="0" noProof="0" dirty="0" err="1"/>
              <a:t>-confidence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noProof="0" dirty="0"/>
              <a:t>Vehicle </a:t>
            </a:r>
            <a:r>
              <a:rPr lang="en-US" b="0" noProof="0" dirty="0" err="1"/>
              <a:t>klasa</a:t>
            </a:r>
            <a:r>
              <a:rPr lang="en-US" b="0" noProof="0" dirty="0"/>
              <a:t> </a:t>
            </a:r>
            <a:r>
              <a:rPr lang="en-US" b="0" noProof="0" dirty="0" err="1"/>
              <a:t>ima</a:t>
            </a:r>
            <a:r>
              <a:rPr lang="en-US" b="0" noProof="0" dirty="0"/>
              <a:t> </a:t>
            </a:r>
            <a:r>
              <a:rPr lang="en-US" b="0" noProof="0" dirty="0" err="1"/>
              <a:t>visok</a:t>
            </a:r>
            <a:r>
              <a:rPr lang="en-US" b="0" noProof="0" dirty="0"/>
              <a:t> </a:t>
            </a:r>
            <a:r>
              <a:rPr lang="en-US" b="0" noProof="0" dirty="0" err="1"/>
              <a:t>odziv</a:t>
            </a:r>
            <a:r>
              <a:rPr lang="en-US" b="0" noProof="0" dirty="0"/>
              <a:t> (0.9) do </a:t>
            </a:r>
            <a:r>
              <a:rPr lang="en-US" b="0" noProof="0" dirty="0" err="1"/>
              <a:t>pouzdanosti</a:t>
            </a:r>
            <a:r>
              <a:rPr lang="en-US" b="0" noProof="0" dirty="0"/>
              <a:t> od </a:t>
            </a:r>
            <a:r>
              <a:rPr lang="en-US" b="0" noProof="0" dirty="0" err="1"/>
              <a:t>oko</a:t>
            </a:r>
            <a:r>
              <a:rPr lang="en-US" b="0" noProof="0" dirty="0"/>
              <a:t> 0.</a:t>
            </a:r>
            <a:r>
              <a:rPr lang="en-US" dirty="0"/>
              <a:t>7</a:t>
            </a:r>
            <a:endParaRPr lang="en-US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Ukupni</a:t>
            </a:r>
            <a:r>
              <a:rPr lang="en-US" dirty="0"/>
              <a:t> recall </a:t>
            </a:r>
            <a:r>
              <a:rPr lang="en-US" dirty="0" err="1"/>
              <a:t>ispod</a:t>
            </a:r>
            <a:r>
              <a:rPr lang="en-US" dirty="0"/>
              <a:t> 50%</a:t>
            </a: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32D51019-C51B-B37D-E535-52314EA67C4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87EEA7C-A941-06FE-4903-A67EF108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20</a:t>
            </a:fld>
            <a:endParaRPr lang="hr-BA" noProof="0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D7400EA9-0DF6-A61A-1A8C-1F8B98F6E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4" y="895350"/>
            <a:ext cx="7145655" cy="476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47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15A8-4480-0529-033D-02A886CC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321F-F5F5-D17F-974E-323DAE03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54176086-BD99-FAA1-FCF6-40E28A1EFEB0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noProof="0" dirty="0" err="1"/>
              <a:t>Precision-Recall</a:t>
            </a:r>
            <a:r>
              <a:rPr lang="hr-BA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0.26 za mAP@0.5 -&gt; </a:t>
            </a:r>
            <a:r>
              <a:rPr lang="en-US" noProof="0" dirty="0" err="1"/>
              <a:t>loša</a:t>
            </a:r>
            <a:r>
              <a:rPr lang="en-US" noProof="0" dirty="0"/>
              <a:t> </a:t>
            </a:r>
            <a:r>
              <a:rPr lang="en-US" noProof="0" dirty="0" err="1"/>
              <a:t>sposobnost</a:t>
            </a:r>
            <a:r>
              <a:rPr lang="en-US" noProof="0" dirty="0"/>
              <a:t> </a:t>
            </a:r>
            <a:r>
              <a:rPr lang="en-US" noProof="0" dirty="0" err="1"/>
              <a:t>označavanja</a:t>
            </a:r>
            <a:r>
              <a:rPr lang="en-US" noProof="0" dirty="0"/>
              <a:t> </a:t>
            </a:r>
            <a:r>
              <a:rPr lang="en-US" noProof="0" dirty="0" err="1"/>
              <a:t>objekata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Vehicle </a:t>
            </a:r>
            <a:r>
              <a:rPr lang="en-US" noProof="0" dirty="0" err="1"/>
              <a:t>klasa</a:t>
            </a:r>
            <a:r>
              <a:rPr lang="en-US" noProof="0" dirty="0"/>
              <a:t> </a:t>
            </a:r>
            <a:r>
              <a:rPr lang="en-US" noProof="0" dirty="0" err="1"/>
              <a:t>ima</a:t>
            </a:r>
            <a:r>
              <a:rPr lang="en-US" noProof="0" dirty="0"/>
              <a:t> </a:t>
            </a:r>
            <a:r>
              <a:rPr lang="en-US" noProof="0" dirty="0" err="1"/>
              <a:t>bolju</a:t>
            </a:r>
            <a:r>
              <a:rPr lang="en-US" noProof="0" dirty="0"/>
              <a:t> Precision-Recall </a:t>
            </a:r>
            <a:r>
              <a:rPr lang="en-US" noProof="0" dirty="0" err="1"/>
              <a:t>krivulju</a:t>
            </a:r>
            <a:r>
              <a:rPr lang="en-US" noProof="0" dirty="0"/>
              <a:t> (</a:t>
            </a:r>
            <a:r>
              <a:rPr lang="en-US" noProof="0" dirty="0" err="1"/>
              <a:t>preciznost</a:t>
            </a:r>
            <a:r>
              <a:rPr lang="en-US" noProof="0" dirty="0"/>
              <a:t> od 0.6, </a:t>
            </a:r>
            <a:r>
              <a:rPr lang="en-US" noProof="0" dirty="0" err="1"/>
              <a:t>koja</a:t>
            </a:r>
            <a:r>
              <a:rPr lang="en-US" noProof="0" dirty="0"/>
              <a:t> </a:t>
            </a:r>
            <a:r>
              <a:rPr lang="en-US" noProof="0" dirty="0" err="1"/>
              <a:t>opada</a:t>
            </a:r>
            <a:r>
              <a:rPr lang="en-US" noProof="0" dirty="0"/>
              <a:t> </a:t>
            </a:r>
            <a:r>
              <a:rPr lang="en-US" noProof="0" dirty="0" err="1"/>
              <a:t>povećanjem</a:t>
            </a:r>
            <a:r>
              <a:rPr lang="en-US" noProof="0" dirty="0"/>
              <a:t> Recall-a)  </a:t>
            </a:r>
            <a:endParaRPr lang="hr-BA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F5F1B6A8-9525-7777-78FF-CCED0F3D2AB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1C91CA76-4756-66C5-7FF9-2DB4C849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21</a:t>
            </a:fld>
            <a:endParaRPr lang="hr-BA" noProof="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E7ADE1CE-9001-684E-7EBD-47C5C6FB2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6" y="89535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48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BB74-5E15-0053-872B-BCFB956E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2100-0A74-051B-ECA3-AA5E0699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BA" noProof="0" dirty="0"/>
              <a:t>Rezultati treniranja</a:t>
            </a:r>
          </a:p>
        </p:txBody>
      </p:sp>
      <p:sp>
        <p:nvSpPr>
          <p:cNvPr id="11" name="Rezervirano mjesto sadržaja 10">
            <a:extLst>
              <a:ext uri="{FF2B5EF4-FFF2-40B4-BE49-F238E27FC236}">
                <a16:creationId xmlns:a16="http://schemas.microsoft.com/office/drawing/2014/main" id="{FA375EEB-C721-1D83-4843-627A91092325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BA" sz="1600" noProof="0" dirty="0" err="1"/>
              <a:t>Precision-Confidence</a:t>
            </a:r>
            <a:r>
              <a:rPr lang="hr-BA" sz="1600" b="0" noProof="0" dirty="0"/>
              <a:t> krivulja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err="1"/>
              <a:t>Preciz</a:t>
            </a:r>
            <a:r>
              <a:rPr lang="en-US" sz="1600" dirty="0" err="1"/>
              <a:t>nost</a:t>
            </a:r>
            <a:r>
              <a:rPr lang="en-US" sz="1600" dirty="0"/>
              <a:t> </a:t>
            </a:r>
            <a:r>
              <a:rPr lang="en-US" sz="1600" dirty="0" err="1"/>
              <a:t>raste</a:t>
            </a:r>
            <a:r>
              <a:rPr lang="en-US" sz="1600" dirty="0"/>
              <a:t> </a:t>
            </a:r>
            <a:r>
              <a:rPr lang="en-US" sz="1600" dirty="0" err="1"/>
              <a:t>povećanjem</a:t>
            </a:r>
            <a:r>
              <a:rPr lang="en-US" sz="1600" dirty="0"/>
              <a:t> confidence </a:t>
            </a:r>
            <a:r>
              <a:rPr lang="en-US" sz="1600" dirty="0" err="1"/>
              <a:t>vrijednosti</a:t>
            </a:r>
            <a:r>
              <a:rPr lang="en-US" sz="1600" dirty="0"/>
              <a:t> za “all classes” </a:t>
            </a:r>
            <a:r>
              <a:rPr lang="en-US" sz="1600" dirty="0" err="1"/>
              <a:t>te</a:t>
            </a:r>
            <a:r>
              <a:rPr lang="en-US" sz="1600" dirty="0"/>
              <a:t> “vehicles”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Nakon</a:t>
            </a:r>
            <a:r>
              <a:rPr lang="en-US" sz="1600" dirty="0"/>
              <a:t> </a:t>
            </a:r>
            <a:r>
              <a:rPr lang="en-US" sz="1600" dirty="0" err="1"/>
              <a:t>praga</a:t>
            </a:r>
            <a:r>
              <a:rPr lang="en-US" sz="1600" dirty="0"/>
              <a:t> 0.78, </a:t>
            </a:r>
            <a:r>
              <a:rPr lang="en-US" sz="1600" dirty="0" err="1"/>
              <a:t>nagli</a:t>
            </a:r>
            <a:r>
              <a:rPr lang="en-US" sz="1600" dirty="0"/>
              <a:t> </a:t>
            </a:r>
            <a:r>
              <a:rPr lang="en-US" sz="1600" dirty="0" err="1"/>
              <a:t>rast</a:t>
            </a:r>
            <a:r>
              <a:rPr lang="en-US" sz="1600" dirty="0"/>
              <a:t> </a:t>
            </a:r>
            <a:r>
              <a:rPr lang="en-US" sz="1600" dirty="0" err="1"/>
              <a:t>preciznosti</a:t>
            </a:r>
            <a:r>
              <a:rPr lang="en-US" sz="1600" dirty="0"/>
              <a:t> za “all classes”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noProof="0" dirty="0"/>
              <a:t>“non-vehicle” </a:t>
            </a:r>
            <a:r>
              <a:rPr lang="en-US" sz="1600" b="0" noProof="0" dirty="0" err="1"/>
              <a:t>klase</a:t>
            </a:r>
            <a:r>
              <a:rPr lang="en-US" sz="1600" b="0" noProof="0" dirty="0"/>
              <a:t> </a:t>
            </a:r>
            <a:r>
              <a:rPr lang="en-US" sz="1600" b="0" noProof="0" dirty="0" err="1"/>
              <a:t>imaju</a:t>
            </a:r>
            <a:r>
              <a:rPr lang="en-US" sz="1600" b="0" noProof="0" dirty="0"/>
              <a:t> </a:t>
            </a:r>
            <a:r>
              <a:rPr lang="en-US" sz="1600" b="0" noProof="0" dirty="0" err="1"/>
              <a:t>lošu</a:t>
            </a:r>
            <a:r>
              <a:rPr lang="en-US" sz="1600" b="0" noProof="0" dirty="0"/>
              <a:t> </a:t>
            </a:r>
            <a:r>
              <a:rPr lang="en-US" sz="1600" b="0" noProof="0" dirty="0" err="1"/>
              <a:t>preciznost</a:t>
            </a:r>
            <a:r>
              <a:rPr lang="en-US" sz="1600" b="0" noProof="0" dirty="0"/>
              <a:t> (</a:t>
            </a:r>
            <a:r>
              <a:rPr lang="en-US" sz="1600" b="0" noProof="0" dirty="0" err="1"/>
              <a:t>blizu</a:t>
            </a:r>
            <a:r>
              <a:rPr lang="en-US" sz="1600" b="0" noProof="0" dirty="0"/>
              <a:t> 0)</a:t>
            </a:r>
            <a:endParaRPr lang="hr-BA" sz="1600" b="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BA" b="0" noProof="0" dirty="0"/>
          </a:p>
          <a:p>
            <a:endParaRPr lang="hr-BA" b="0" noProof="0" dirty="0"/>
          </a:p>
        </p:txBody>
      </p:sp>
      <p:sp>
        <p:nvSpPr>
          <p:cNvPr id="3" name="Rezervirano mjesto tablice 2">
            <a:extLst>
              <a:ext uri="{FF2B5EF4-FFF2-40B4-BE49-F238E27FC236}">
                <a16:creationId xmlns:a16="http://schemas.microsoft.com/office/drawing/2014/main" id="{D33B7D49-8F1A-1931-89E1-A5797AB9461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BA" noProof="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75151063-726E-3714-665D-A10F9814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hr-BA" noProof="0" smtClean="0"/>
              <a:pPr/>
              <a:t>22</a:t>
            </a:fld>
            <a:endParaRPr lang="hr-BA" noProof="0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F47323A-8E62-1417-0A2A-391AEF2A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395" y="895350"/>
            <a:ext cx="7734297" cy="515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11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7E0E-03EA-DFC8-A928-4A743621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55A26B4-799A-418C-AA95-AEA961FA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Matrica</a:t>
            </a:r>
            <a:r>
              <a:rPr lang="en-US" dirty="0"/>
              <a:t> </a:t>
            </a:r>
            <a:r>
              <a:rPr lang="en-US" dirty="0" err="1"/>
              <a:t>konfuzije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6B0630E-95A2-0E6B-8FB3-B9B8A7E97400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Izvrsna</a:t>
            </a:r>
            <a:r>
              <a:rPr lang="en-US" sz="1600" dirty="0"/>
              <a:t> </a:t>
            </a:r>
            <a:r>
              <a:rPr lang="en-US" sz="1600" dirty="0" err="1"/>
              <a:t>detekcija</a:t>
            </a:r>
            <a:r>
              <a:rPr lang="en-US" sz="1600" dirty="0"/>
              <a:t> </a:t>
            </a:r>
            <a:r>
              <a:rPr lang="en-US" sz="1600" dirty="0" err="1"/>
              <a:t>vozila</a:t>
            </a:r>
            <a:r>
              <a:rPr lang="en-US" sz="1600" dirty="0"/>
              <a:t> – 97% </a:t>
            </a:r>
            <a:r>
              <a:rPr lang="en-US" sz="1600" dirty="0" err="1"/>
              <a:t>vozila</a:t>
            </a:r>
            <a:r>
              <a:rPr lang="en-US" sz="1600" dirty="0"/>
              <a:t> je </a:t>
            </a:r>
            <a:r>
              <a:rPr lang="en-US" sz="1600" dirty="0" err="1"/>
              <a:t>detektirano</a:t>
            </a:r>
            <a:r>
              <a:rPr lang="en-US" sz="1600" dirty="0"/>
              <a:t> </a:t>
            </a:r>
            <a:r>
              <a:rPr lang="en-US" sz="1600" dirty="0" err="1"/>
              <a:t>kao</a:t>
            </a:r>
            <a:r>
              <a:rPr lang="en-US" sz="1600" dirty="0"/>
              <a:t> </a:t>
            </a:r>
            <a:r>
              <a:rPr lang="en-US" sz="1600" dirty="0" err="1"/>
              <a:t>vozila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Loša</a:t>
            </a:r>
            <a:r>
              <a:rPr lang="en-US" sz="1600" dirty="0"/>
              <a:t> </a:t>
            </a:r>
            <a:r>
              <a:rPr lang="en-US" sz="1600" dirty="0" err="1"/>
              <a:t>detekcija</a:t>
            </a:r>
            <a:r>
              <a:rPr lang="en-US" sz="1600" dirty="0"/>
              <a:t> </a:t>
            </a:r>
            <a:r>
              <a:rPr lang="en-US" sz="1600" dirty="0" err="1"/>
              <a:t>drugih</a:t>
            </a:r>
            <a:r>
              <a:rPr lang="en-US" sz="1600" dirty="0"/>
              <a:t> </a:t>
            </a:r>
            <a:r>
              <a:rPr lang="en-US" sz="1600" dirty="0" err="1"/>
              <a:t>objekata</a:t>
            </a:r>
            <a:r>
              <a:rPr lang="en-US" sz="1600" dirty="0"/>
              <a:t> -&gt; 5% </a:t>
            </a:r>
            <a:r>
              <a:rPr lang="en-US" sz="1600" dirty="0" err="1"/>
              <a:t>ih</a:t>
            </a:r>
            <a:r>
              <a:rPr lang="en-US" sz="1600" dirty="0"/>
              <a:t> je </a:t>
            </a:r>
            <a:r>
              <a:rPr lang="en-US" sz="1600" dirty="0" err="1"/>
              <a:t>detektirano</a:t>
            </a:r>
            <a:r>
              <a:rPr lang="en-US" sz="1600" dirty="0"/>
              <a:t> </a:t>
            </a:r>
            <a:r>
              <a:rPr lang="en-US" sz="1600" dirty="0" err="1"/>
              <a:t>kao</a:t>
            </a:r>
            <a:r>
              <a:rPr lang="en-US" sz="1600" dirty="0"/>
              <a:t> non-vehicle</a:t>
            </a:r>
            <a:endParaRPr lang="hr-HR" sz="1600" dirty="0"/>
          </a:p>
        </p:txBody>
      </p:sp>
      <p:sp>
        <p:nvSpPr>
          <p:cNvPr id="4" name="Rezervirano mjesto tablice 3">
            <a:extLst>
              <a:ext uri="{FF2B5EF4-FFF2-40B4-BE49-F238E27FC236}">
                <a16:creationId xmlns:a16="http://schemas.microsoft.com/office/drawing/2014/main" id="{6C02BD2F-40FB-8312-A988-E85E4969DF8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3D814253-AC91-6D63-D522-11855530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B96D02E-6176-E648-662F-6319E26DE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395" y="895350"/>
            <a:ext cx="6821185" cy="511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6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550C6-9C08-C3A3-7090-4D862883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115EA9B-72E0-61A8-0C03-2CEB3581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Zaključak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E5A113A-14F7-F429-F9DC-469B7B0E4F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Loša</a:t>
            </a:r>
            <a:r>
              <a:rPr lang="en-US" b="0" dirty="0"/>
              <a:t> </a:t>
            </a:r>
            <a:r>
              <a:rPr lang="en-US" b="0" dirty="0" err="1"/>
              <a:t>generalizacija</a:t>
            </a:r>
            <a:r>
              <a:rPr lang="en-US" b="0" dirty="0"/>
              <a:t> </a:t>
            </a:r>
            <a:r>
              <a:rPr lang="en-US" b="0" dirty="0" err="1"/>
              <a:t>modela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Niske</a:t>
            </a:r>
            <a:r>
              <a:rPr lang="en-US" b="0" dirty="0"/>
              <a:t> mAP50-95 </a:t>
            </a:r>
            <a:r>
              <a:rPr lang="en-US" b="0" dirty="0" err="1"/>
              <a:t>vrijednosti</a:t>
            </a:r>
            <a:r>
              <a:rPr lang="en-US" b="0" dirty="0"/>
              <a:t> -&gt; model </a:t>
            </a:r>
            <a:r>
              <a:rPr lang="en-US" b="0" dirty="0" err="1"/>
              <a:t>loše</a:t>
            </a:r>
            <a:r>
              <a:rPr lang="en-US" b="0" dirty="0"/>
              <a:t> </a:t>
            </a:r>
            <a:r>
              <a:rPr lang="en-US" b="0" dirty="0" err="1"/>
              <a:t>označava</a:t>
            </a:r>
            <a:r>
              <a:rPr lang="en-US" b="0" dirty="0"/>
              <a:t> </a:t>
            </a:r>
            <a:r>
              <a:rPr lang="en-US" b="0" dirty="0" err="1"/>
              <a:t>objekte</a:t>
            </a:r>
            <a:r>
              <a:rPr lang="en-US" b="0" dirty="0"/>
              <a:t> </a:t>
            </a:r>
            <a:r>
              <a:rPr lang="en-US" b="0" dirty="0" err="1"/>
              <a:t>na</a:t>
            </a:r>
            <a:r>
              <a:rPr lang="en-US" b="0" dirty="0"/>
              <a:t> </a:t>
            </a:r>
            <a:r>
              <a:rPr lang="en-US" b="0" dirty="0" err="1"/>
              <a:t>slici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Nemogućnost</a:t>
            </a:r>
            <a:r>
              <a:rPr lang="en-US" b="0" dirty="0"/>
              <a:t> </a:t>
            </a:r>
            <a:r>
              <a:rPr lang="en-US" b="0" dirty="0" err="1"/>
              <a:t>detektiranja</a:t>
            </a:r>
            <a:r>
              <a:rPr lang="en-US" b="0" dirty="0"/>
              <a:t> “non-vehicle” </a:t>
            </a:r>
            <a:r>
              <a:rPr lang="en-US" b="0" dirty="0" err="1"/>
              <a:t>klasa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Visoka </a:t>
            </a:r>
            <a:r>
              <a:rPr lang="en-US" b="0" dirty="0" err="1"/>
              <a:t>sposobnost</a:t>
            </a:r>
            <a:r>
              <a:rPr lang="en-US" b="0" dirty="0"/>
              <a:t> </a:t>
            </a:r>
            <a:r>
              <a:rPr lang="en-US" b="0" dirty="0" err="1"/>
              <a:t>detekcije</a:t>
            </a:r>
            <a:r>
              <a:rPr lang="en-US" b="0" dirty="0"/>
              <a:t> “vehicle” </a:t>
            </a:r>
            <a:r>
              <a:rPr lang="en-US" b="0" dirty="0" err="1"/>
              <a:t>klase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Problem </a:t>
            </a:r>
            <a:r>
              <a:rPr lang="en-US" b="0" dirty="0" err="1"/>
              <a:t>strukture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raznolikosti</a:t>
            </a:r>
            <a:r>
              <a:rPr lang="en-US" b="0" dirty="0"/>
              <a:t> </a:t>
            </a:r>
            <a:r>
              <a:rPr lang="en-US" b="0" dirty="0" err="1"/>
              <a:t>podataka</a:t>
            </a:r>
            <a:r>
              <a:rPr lang="en-US" b="0" dirty="0"/>
              <a:t> -&gt; </a:t>
            </a:r>
            <a:r>
              <a:rPr lang="en-US" b="0" dirty="0" err="1"/>
              <a:t>loša</a:t>
            </a:r>
            <a:r>
              <a:rPr lang="en-US" b="0" dirty="0"/>
              <a:t> </a:t>
            </a:r>
            <a:r>
              <a:rPr lang="en-US" b="0" dirty="0" err="1"/>
              <a:t>kvaliteta</a:t>
            </a:r>
            <a:r>
              <a:rPr lang="en-US" b="0" dirty="0"/>
              <a:t> </a:t>
            </a:r>
            <a:r>
              <a:rPr lang="en-US" b="0" dirty="0" err="1"/>
              <a:t>anotacija</a:t>
            </a:r>
            <a:endParaRPr lang="en-US" b="0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BE578F15-868B-3A79-3ECE-03CA5073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93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hr-BA" noProof="0" dirty="0"/>
              <a:t>Zahvaljujemo na pažnji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hr-BA" noProof="0" smtClean="0"/>
              <a:pPr/>
              <a:t>25</a:t>
            </a:fld>
            <a:endParaRPr lang="hr-BA" noProof="0" dirty="0"/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A62A5E21-ACC5-B44E-CDE3-3C2DF6052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BA" noProof="0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{6898F321-AB7C-4F33-AB6F-B0242FFE8D16}TF7521aafa-c748-4c40-a498-ba511be234dc0ce54cb2_win32-34d1ea855d09</Template>
  <TotalTime>149</TotalTime>
  <Words>690</Words>
  <Application>Microsoft Office PowerPoint</Application>
  <PresentationFormat>Široki zaslon</PresentationFormat>
  <Paragraphs>165</Paragraphs>
  <Slides>25</Slides>
  <Notes>19</Notes>
  <HiddenSlides>1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25</vt:i4>
      </vt:variant>
    </vt:vector>
  </HeadingPairs>
  <TitlesOfParts>
    <vt:vector size="30" baseType="lpstr">
      <vt:lpstr>Arial</vt:lpstr>
      <vt:lpstr>Calibri</vt:lpstr>
      <vt:lpstr>Segoe UI Variable Display</vt:lpstr>
      <vt:lpstr>Tenorite</vt:lpstr>
      <vt:lpstr>Custom</vt:lpstr>
      <vt:lpstr>Detekcija slobodnih i zauzetih mjesta na parkingu pomoću YOLO modela</vt:lpstr>
      <vt:lpstr>Sadržaj</vt:lpstr>
      <vt:lpstr>Motivacija</vt:lpstr>
      <vt:lpstr>Rezultati treniranja</vt:lpstr>
      <vt:lpstr>Rezultati treniranja</vt:lpstr>
      <vt:lpstr>Rezultati treniranja</vt:lpstr>
      <vt:lpstr>Rezultati treniranja</vt:lpstr>
      <vt:lpstr>Matrica konfuzije</vt:lpstr>
      <vt:lpstr>Opis skupa podataka</vt:lpstr>
      <vt:lpstr>Opis Primijenjenih metoda</vt:lpstr>
      <vt:lpstr>Opis eksperimenta</vt:lpstr>
      <vt:lpstr>rezultati treniranja – YOLOv11 large</vt:lpstr>
      <vt:lpstr>Rezultati treniranja</vt:lpstr>
      <vt:lpstr>Rezultati treniranja</vt:lpstr>
      <vt:lpstr>Rezultati treniranja</vt:lpstr>
      <vt:lpstr>Rezultati treniranja</vt:lpstr>
      <vt:lpstr>Matrica konfuzije</vt:lpstr>
      <vt:lpstr>rezultati treniranja – YOLOv11 Medium</vt:lpstr>
      <vt:lpstr>Rezultati treniranja</vt:lpstr>
      <vt:lpstr>Rezultati treniranja</vt:lpstr>
      <vt:lpstr>Rezultati treniranja</vt:lpstr>
      <vt:lpstr>Rezultati treniranja</vt:lpstr>
      <vt:lpstr>Matrica konfuzije</vt:lpstr>
      <vt:lpstr>Zaključak</vt:lpstr>
      <vt:lpstr>Zahvaljujemo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Jakupović</dc:creator>
  <cp:lastModifiedBy>Benjamin Jakupović</cp:lastModifiedBy>
  <cp:revision>102</cp:revision>
  <dcterms:created xsi:type="dcterms:W3CDTF">2025-06-06T07:54:11Z</dcterms:created>
  <dcterms:modified xsi:type="dcterms:W3CDTF">2025-06-28T15:23:17Z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